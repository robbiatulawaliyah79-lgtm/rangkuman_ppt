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89A64076-270D-64FD-C3AB-801999FD2AA9}">
          <p14:sldIdLst>
            <p14:sldId id="256"/>
            <p14:sldId id="257"/>
          </p14:sldIdLst>
        </p14:section>
        <p14:section name="Bab 1" id="{476D9603-7C46-3CB8-1118-E3092FC11F20}">
          <p14:sldIdLst>
            <p14:sldId id="258"/>
            <p14:sldId id="259"/>
            <p14:sldId id="260"/>
          </p14:sldIdLst>
        </p14:section>
        <p14:section name="Bab 2" id="{2B34D200-3C3C-F8C3-960C-9361E72A4422}">
          <p14:sldIdLst>
            <p14:sldId id="261"/>
            <p14:sldId id="262"/>
            <p14:sldId id="263"/>
          </p14:sldIdLst>
        </p14:section>
        <p14:section name="Bab 3" id="{08D3EC69-67C4-82C2-BB62-36519192A653}">
          <p14:sldIdLst>
            <p14:sldId id="264"/>
            <p14:sldId id="265"/>
            <p14:sldId id="266"/>
          </p14:sldIdLst>
        </p14:section>
        <p14:section name="Bab 4" id="{3B9A760F-7191-524E-350A-30A777CB385D}">
          <p14:sldIdLst>
            <p14:sldId id="267"/>
            <p14:sldId id="268"/>
          </p14:sldIdLst>
        </p14:section>
        <p14:section name="Bab 5" id="{AE43F0C4-4991-2016-0329-F5C11A09C701}">
          <p14:sldIdLst>
            <p14:sldId id="269"/>
            <p14:sldId id="270"/>
            <p14:sldId id="271"/>
          </p14:sldIdLst>
        </p14:section>
        <p14:section name="Bab 6" id="{D55F4ECB-5959-E000-E44A-4E0ECCC6F07C}">
          <p14:sldIdLst>
            <p14:sldId id="272"/>
          </p14:sldIdLst>
        </p14:section>
        <p14:section name="Penutup" id="{09F5D202-9439-5E2A-7062-B7C7F6FCEC9B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58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68580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pemrograman-mobile-android.java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./ringkasan --bab 1-6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tx1"/>
                </a:solidFill>
              </a:rPr>
              <a:t>Pemrograman Mobile Android dengan Java</a:t>
            </a:r>
            <a:endParaRPr lang="en-US" sz="42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2"/>
                </a:solidFill>
              </a:rPr>
              <a:t>Ringkasan Modul Bab 1–6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tx2"/>
                </a:solidFill>
              </a:rPr>
              <a:t>Sumber: Erma Susanti (2020)</a:t>
            </a:r>
            <a:endParaRPr lang="en-US" sz="2000" dirty="0"/>
          </a:p>
        </p:txBody>
      </p:sp>
      <p:sp>
        <p:nvSpPr>
          <p:cNvPr id="5" name="Identitas"/>
          <p:cNvSpPr txBox="1"/>
          <p:nvPr/>
        </p:nvSpPr>
        <p:spPr>
          <a:xfrm>
            <a:off x="731520" y="46634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 :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Robbiatul Awaliyah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NIM   :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2302158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Kelas :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23S04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    :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Pemrograman Mobile II</a:t>
            </a:r>
            <a:endParaRPr lang="en-US" sz="1600" dirty="0"/>
          </a:p>
        </p:txBody>
      </p:sp>
      <p:sp>
        <p:nvSpPr>
          <p:cNvPr id="6" name="CodeWindow"/>
          <p:cNvSpPr/>
          <p:nvPr/>
        </p:nvSpPr>
        <p:spPr>
          <a:xfrm>
            <a:off x="7772400" y="1097280"/>
            <a:ext cx="3931920" cy="4480560"/>
          </a:xfrm>
          <a:prstGeom prst="roundRect">
            <a:avLst>
              <a:gd name="adj" fmla="val 2326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7955280" y="12527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Dot"/>
          <p:cNvSpPr/>
          <p:nvPr/>
        </p:nvSpPr>
        <p:spPr>
          <a:xfrm>
            <a:off x="8138160" y="12527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Dot"/>
          <p:cNvSpPr/>
          <p:nvPr/>
        </p:nvSpPr>
        <p:spPr>
          <a:xfrm>
            <a:off x="8321040" y="12527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41080" y="1188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AndroidApp.java</a:t>
            </a:r>
            <a:endParaRPr lang="en-US" sz="1100" dirty="0"/>
          </a:p>
        </p:txBody>
      </p:sp>
      <p:sp>
        <p:nvSpPr>
          <p:cNvPr id="11" name="Code"/>
          <p:cNvSpPr txBox="1"/>
          <p:nvPr/>
        </p:nvSpPr>
        <p:spPr>
          <a:xfrm>
            <a:off x="7973568" y="1554480"/>
            <a:ext cx="3529584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AndroidApp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os = 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"Linux"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share = 72.92;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build()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setup();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develop();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publish();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DAFTAR ISI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Peta Materi</a:t>
            </a:r>
            <a:endParaRPr lang="en-US" sz="3400" dirty="0"/>
          </a:p>
        </p:txBody>
      </p:sp>
      <p:sp>
        <p:nvSpPr>
          <p:cNvPr id="4" name="Card Bab 01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 01</a:t>
            </a:r>
            <a:endParaRPr lang="en-US" sz="1400" dirty="0"/>
          </a:p>
        </p:txBody>
      </p:sp>
      <p:sp>
        <p:nvSpPr>
          <p:cNvPr id="6" name="IconCircle"/>
          <p:cNvSpPr/>
          <p:nvPr/>
        </p:nvSpPr>
        <p:spPr>
          <a:xfrm>
            <a:off x="3273552" y="1755648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7" name="Image 0" descr="andro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623" y="1908719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Pengenalan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Android, arsitektur, Android Studio, project pertama</a:t>
            </a:r>
            <a:endParaRPr lang="en-US" sz="1400" dirty="0"/>
          </a:p>
        </p:txBody>
      </p:sp>
      <p:sp>
        <p:nvSpPr>
          <p:cNvPr id="10" name="Card Bab 02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 02</a:t>
            </a:r>
            <a:endParaRPr lang="en-US" sz="1400" dirty="0"/>
          </a:p>
        </p:txBody>
      </p:sp>
      <p:sp>
        <p:nvSpPr>
          <p:cNvPr id="12" name="IconCircle"/>
          <p:cNvSpPr/>
          <p:nvPr/>
        </p:nvSpPr>
        <p:spPr>
          <a:xfrm>
            <a:off x="7022592" y="1755648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3" name="Image 1" descr="puzz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663" y="190871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Komponen Dasar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Activity, Intent, dan Fragment</a:t>
            </a:r>
            <a:endParaRPr lang="en-US" sz="1400" dirty="0"/>
          </a:p>
        </p:txBody>
      </p:sp>
      <p:sp>
        <p:nvSpPr>
          <p:cNvPr id="16" name="Card Bab 03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2104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 03</a:t>
            </a:r>
            <a:endParaRPr lang="en-US" sz="1400" dirty="0"/>
          </a:p>
        </p:txBody>
      </p:sp>
      <p:sp>
        <p:nvSpPr>
          <p:cNvPr id="18" name="IconCircle"/>
          <p:cNvSpPr/>
          <p:nvPr/>
        </p:nvSpPr>
        <p:spPr>
          <a:xfrm>
            <a:off x="10771632" y="1755648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9" name="Image 2" descr="palet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4703" y="1908719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UI &amp; UX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View, layout, interaksi, RecyclerView</a:t>
            </a:r>
            <a:endParaRPr lang="en-US" sz="1400" dirty="0"/>
          </a:p>
        </p:txBody>
      </p:sp>
      <p:sp>
        <p:nvSpPr>
          <p:cNvPr id="22" name="Card Bab 04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 04</a:t>
            </a:r>
            <a:endParaRPr lang="en-US" sz="1400" dirty="0"/>
          </a:p>
        </p:txBody>
      </p:sp>
      <p:sp>
        <p:nvSpPr>
          <p:cNvPr id="24" name="IconCircle"/>
          <p:cNvSpPr/>
          <p:nvPr/>
        </p:nvSpPr>
        <p:spPr>
          <a:xfrm>
            <a:off x="3273552" y="4087368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25" name="Image 3" descr="bel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6623" y="4240439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296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Background Task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AlarmManager, JobScheduler, Notification</a:t>
            </a:r>
            <a:endParaRPr lang="en-US" sz="1400" dirty="0"/>
          </a:p>
        </p:txBody>
      </p:sp>
      <p:sp>
        <p:nvSpPr>
          <p:cNvPr id="28" name="Card Bab 05"/>
          <p:cNvSpPr/>
          <p:nvPr/>
        </p:nvSpPr>
        <p:spPr>
          <a:xfrm>
            <a:off x="429768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57200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 05</a:t>
            </a:r>
            <a:endParaRPr lang="en-US" sz="1400" dirty="0"/>
          </a:p>
        </p:txBody>
      </p:sp>
      <p:sp>
        <p:nvSpPr>
          <p:cNvPr id="30" name="IconCircle"/>
          <p:cNvSpPr/>
          <p:nvPr/>
        </p:nvSpPr>
        <p:spPr>
          <a:xfrm>
            <a:off x="7022592" y="4087368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31" name="Image 4" descr="d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5663" y="4240439"/>
            <a:ext cx="260787" cy="26078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57200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Internal &amp; Eksternal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SharedPreferences dan SQLite</a:t>
            </a:r>
            <a:endParaRPr lang="en-US" sz="1400" dirty="0"/>
          </a:p>
        </p:txBody>
      </p:sp>
      <p:sp>
        <p:nvSpPr>
          <p:cNvPr id="34" name="Card Bab 06"/>
          <p:cNvSpPr/>
          <p:nvPr/>
        </p:nvSpPr>
        <p:spPr>
          <a:xfrm>
            <a:off x="804672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32104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 06</a:t>
            </a:r>
            <a:endParaRPr lang="en-US" sz="1400" dirty="0"/>
          </a:p>
        </p:txBody>
      </p:sp>
      <p:sp>
        <p:nvSpPr>
          <p:cNvPr id="36" name="IconCircle"/>
          <p:cNvSpPr/>
          <p:nvPr/>
        </p:nvSpPr>
        <p:spPr>
          <a:xfrm>
            <a:off x="10771632" y="4087368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37" name="Image 5" descr="fi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4703" y="4240439"/>
            <a:ext cx="260787" cy="260787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32104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Firebase</a:t>
            </a:r>
            <a:endParaRPr lang="en-US" sz="200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Realtime Database dan operasi CRUD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01 · PENGENALAN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Android &amp; Arsitekturnya</a:t>
            </a:r>
            <a:endParaRPr lang="en-US" sz="34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42062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72,92%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smartphone di dunia memakai Android (StatCounter, Okt 2020)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Open source </a:t>
            </a:r>
            <a:r>
              <a:rPr lang="en-US" sz="1400" dirty="0">
                <a:solidFill>
                  <a:schemeClr val="tx1"/>
                </a:solidFill>
              </a:rPr>
              <a:t>berbasis kernel Linux, antarmuka layar sentuh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Perangkat: </a:t>
            </a:r>
            <a:r>
              <a:rPr lang="en-US" sz="1400" dirty="0">
                <a:solidFill>
                  <a:schemeClr val="tx1"/>
                </a:solidFill>
              </a:rPr>
              <a:t>HP, tablet, TV, mobil, wearable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Pertama: </a:t>
            </a:r>
            <a:r>
              <a:rPr lang="en-US" sz="1400" dirty="0">
                <a:solidFill>
                  <a:schemeClr val="tx1"/>
                </a:solidFill>
              </a:rPr>
              <a:t>HTC G1, produk Open Handset Alliance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android --stack</a:t>
            </a:r>
            <a:endParaRPr lang="en-US" sz="1400" dirty="0"/>
          </a:p>
        </p:txBody>
      </p:sp>
      <p:sp>
        <p:nvSpPr>
          <p:cNvPr id="9" name="Layer 0"/>
          <p:cNvSpPr/>
          <p:nvPr/>
        </p:nvSpPr>
        <p:spPr>
          <a:xfrm>
            <a:off x="5120640" y="1874520"/>
            <a:ext cx="649224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874520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Apps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kemampuan kunci, mis. kirim email</a:t>
            </a:r>
            <a:endParaRPr lang="en-US" sz="1400" dirty="0"/>
          </a:p>
        </p:txBody>
      </p:sp>
      <p:sp>
        <p:nvSpPr>
          <p:cNvPr id="11" name="Layer 1"/>
          <p:cNvSpPr/>
          <p:nvPr/>
        </p:nvSpPr>
        <p:spPr>
          <a:xfrm>
            <a:off x="5120640" y="2779776"/>
            <a:ext cx="649224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2779776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API Framework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view, activity, notifikasi, resource manager</a:t>
            </a:r>
            <a:endParaRPr lang="en-US" sz="1400" dirty="0"/>
          </a:p>
        </p:txBody>
      </p:sp>
      <p:sp>
        <p:nvSpPr>
          <p:cNvPr id="13" name="Layer C"/>
          <p:cNvSpPr/>
          <p:nvPr/>
        </p:nvSpPr>
        <p:spPr>
          <a:xfrm>
            <a:off x="5120640" y="3685032"/>
            <a:ext cx="3154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4" name="Layer ART"/>
          <p:cNvSpPr/>
          <p:nvPr/>
        </p:nvSpPr>
        <p:spPr>
          <a:xfrm>
            <a:off x="8458200" y="3685032"/>
            <a:ext cx="3154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36850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C/C++ Libraries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OpenGL ES, core native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36850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Runtime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ART (API 21+), dulu Dalvik</a:t>
            </a:r>
            <a:endParaRPr lang="en-US" sz="1400" dirty="0"/>
          </a:p>
        </p:txBody>
      </p:sp>
      <p:sp>
        <p:nvSpPr>
          <p:cNvPr id="17" name="Layer 3"/>
          <p:cNvSpPr/>
          <p:nvPr/>
        </p:nvSpPr>
        <p:spPr>
          <a:xfrm>
            <a:off x="5120640" y="4590288"/>
            <a:ext cx="649224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4590288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Abstraction Layer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antarmuka standar kamera, bluetooth, dll.</a:t>
            </a:r>
            <a:endParaRPr lang="en-US" sz="1400" dirty="0"/>
          </a:p>
        </p:txBody>
      </p:sp>
      <p:sp>
        <p:nvSpPr>
          <p:cNvPr id="19" name="Layer 4"/>
          <p:cNvSpPr/>
          <p:nvPr/>
        </p:nvSpPr>
        <p:spPr>
          <a:xfrm>
            <a:off x="5120640" y="5495544"/>
            <a:ext cx="649224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5495544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Kernel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thread, memori, keamanan, driver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01 · PENGENALAN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Lingkungan Pengembangan</a:t>
            </a:r>
            <a:endParaRPr lang="en-US" sz="3400" dirty="0"/>
          </a:p>
        </p:txBody>
      </p:sp>
      <p:sp>
        <p:nvSpPr>
          <p:cNvPr id="4" name="Card JDK"/>
          <p:cNvSpPr/>
          <p:nvPr/>
        </p:nvSpPr>
        <p:spPr>
          <a:xfrm>
            <a:off x="548640" y="1554480"/>
            <a:ext cx="2633472" cy="2926080"/>
          </a:xfrm>
          <a:prstGeom prst="roundRect">
            <a:avLst>
              <a:gd name="adj" fmla="val 347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IconCircle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6" name="Image 0" descr="ja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193615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992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Java Development Kit dari Oracle (contoh: JDK 8). Bahasa lain: Kotlin, C/C++, Go.</a:t>
            </a:r>
            <a:endParaRPr lang="en-US" sz="1400" dirty="0"/>
          </a:p>
        </p:txBody>
      </p:sp>
      <p:sp>
        <p:nvSpPr>
          <p:cNvPr id="9" name="Card Android Studio"/>
          <p:cNvSpPr/>
          <p:nvPr/>
        </p:nvSpPr>
        <p:spPr>
          <a:xfrm>
            <a:off x="3364992" y="1554480"/>
            <a:ext cx="2633472" cy="2926080"/>
          </a:xfrm>
          <a:prstGeom prst="roundRect">
            <a:avLst>
              <a:gd name="adj" fmla="val 347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0" name="IconCircle"/>
          <p:cNvSpPr/>
          <p:nvPr/>
        </p:nvSpPr>
        <p:spPr>
          <a:xfrm>
            <a:off x="3639312" y="17830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1" name="Image 1" descr="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383" y="193615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9312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Studio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29992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IDE resmi: layout editor, emulator, debugger, testing, build berbasis Gradle.</a:t>
            </a:r>
            <a:endParaRPr lang="en-US" sz="1400" dirty="0"/>
          </a:p>
        </p:txBody>
      </p:sp>
      <p:sp>
        <p:nvSpPr>
          <p:cNvPr id="14" name="Card Android SDK"/>
          <p:cNvSpPr/>
          <p:nvPr/>
        </p:nvSpPr>
        <p:spPr>
          <a:xfrm>
            <a:off x="6181344" y="1554480"/>
            <a:ext cx="2633472" cy="2926080"/>
          </a:xfrm>
          <a:prstGeom prst="roundRect">
            <a:avLst>
              <a:gd name="adj" fmla="val 347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5" name="IconCircle"/>
          <p:cNvSpPr/>
          <p:nvPr/>
        </p:nvSpPr>
        <p:spPr>
          <a:xfrm>
            <a:off x="6455664" y="17830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6" name="Image 2" descr="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735" y="193615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55664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SDK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55664" y="29992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Debugger, library, dokumentasi, sample code. Dikelola lewat SDK Manager.</a:t>
            </a:r>
            <a:endParaRPr lang="en-US" sz="1400" dirty="0"/>
          </a:p>
        </p:txBody>
      </p:sp>
      <p:sp>
        <p:nvSpPr>
          <p:cNvPr id="19" name="Card AVD / Emulator"/>
          <p:cNvSpPr/>
          <p:nvPr/>
        </p:nvSpPr>
        <p:spPr>
          <a:xfrm>
            <a:off x="8997696" y="1554480"/>
            <a:ext cx="2633472" cy="2926080"/>
          </a:xfrm>
          <a:prstGeom prst="roundRect">
            <a:avLst>
              <a:gd name="adj" fmla="val 347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0" name="IconCircle"/>
          <p:cNvSpPr/>
          <p:nvPr/>
        </p:nvSpPr>
        <p:spPr>
          <a:xfrm>
            <a:off x="9272016" y="1783080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21" name="Image 3" descr="mobi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5087" y="193615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2016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AVD / Emulator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72016" y="29992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Uji aplikasi tanpa perangkat fisik. Bisa dipercepat dengan Intel HAXM.</a:t>
            </a:r>
            <a:endParaRPr lang="en-US" sz="1400" dirty="0"/>
          </a:p>
        </p:txBody>
      </p:sp>
      <p:sp>
        <p:nvSpPr>
          <p:cNvPr id="24" name="Spesifikasi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spec --minimum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193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GB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650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RAM minimum (disarankan 8 GB)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3520440" y="5193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i3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3520440" y="5650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prosesor (disarankan i5+)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217920" y="5193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1366×768</a:t>
            </a:r>
            <a:endParaRPr lang="en-US" sz="2400" dirty="0"/>
          </a:p>
        </p:txBody>
      </p:sp>
      <p:sp>
        <p:nvSpPr>
          <p:cNvPr id="31" name="Text 25"/>
          <p:cNvSpPr txBox="1"/>
          <p:nvPr/>
        </p:nvSpPr>
        <p:spPr>
          <a:xfrm>
            <a:off x="6217920" y="5650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layar (disarankan Full HD)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915400" y="5193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4.1</a:t>
            </a:r>
            <a:endParaRPr lang="en-US" sz="2400" dirty="0"/>
          </a:p>
        </p:txBody>
      </p:sp>
      <p:sp>
        <p:nvSpPr>
          <p:cNvPr id="33" name="Text 27"/>
          <p:cNvSpPr txBox="1"/>
          <p:nvPr/>
        </p:nvSpPr>
        <p:spPr>
          <a:xfrm>
            <a:off x="8915400" y="5650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versi Android Studio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01 · PENGENALAN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Struktur Project &amp; Siklus Rilis</a:t>
            </a:r>
            <a:endParaRPr lang="en-US" sz="3400" dirty="0"/>
          </a:p>
        </p:txBody>
      </p:sp>
      <p:sp>
        <p:nvSpPr>
          <p:cNvPr id="4" name="CodeWindow"/>
          <p:cNvSpPr/>
          <p:nvPr/>
        </p:nvSpPr>
        <p:spPr>
          <a:xfrm>
            <a:off x="548640" y="1554480"/>
            <a:ext cx="5212080" cy="2697480"/>
          </a:xfrm>
          <a:prstGeom prst="roundRect">
            <a:avLst>
              <a:gd name="adj" fmla="val 3390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731520" y="17099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Dot"/>
          <p:cNvSpPr/>
          <p:nvPr/>
        </p:nvSpPr>
        <p:spPr>
          <a:xfrm>
            <a:off x="914400" y="17099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Dot"/>
          <p:cNvSpPr/>
          <p:nvPr/>
        </p:nvSpPr>
        <p:spPr>
          <a:xfrm>
            <a:off x="1097280" y="17099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struktur-project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749808" y="2011680"/>
            <a:ext cx="4809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manifest/  </a:t>
            </a: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AndroidManifest.xml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java/      </a:t>
            </a: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source code Java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res/       </a:t>
            </a: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layout, string, gambar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build.gradle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project, module, settings</a:t>
            </a:r>
            <a:endParaRPr lang="en-US" sz="1300" dirty="0"/>
          </a:p>
        </p:txBody>
      </p:sp>
      <p:sp>
        <p:nvSpPr>
          <p:cNvPr id="10" name="Run di HP"/>
          <p:cNvSpPr/>
          <p:nvPr/>
        </p:nvSpPr>
        <p:spPr>
          <a:xfrm>
            <a:off x="5943600" y="1554480"/>
            <a:ext cx="566928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run --device fisik</a:t>
            </a:r>
            <a:endParaRPr lang="en-US" sz="1400" dirty="0"/>
          </a:p>
        </p:txBody>
      </p:sp>
      <p:sp>
        <p:nvSpPr>
          <p:cNvPr id="12" name="Badge"/>
          <p:cNvSpPr/>
          <p:nvPr/>
        </p:nvSpPr>
        <p:spPr>
          <a:xfrm>
            <a:off x="6217920" y="2194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579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Setting &gt; About Phone, tap Build number 7 kali</a:t>
            </a:r>
            <a:endParaRPr lang="en-US" sz="1400" dirty="0"/>
          </a:p>
        </p:txBody>
      </p:sp>
      <p:sp>
        <p:nvSpPr>
          <p:cNvPr id="15" name="Badge"/>
          <p:cNvSpPr/>
          <p:nvPr/>
        </p:nvSpPr>
        <p:spPr>
          <a:xfrm>
            <a:off x="6217920" y="2834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7980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Aktifkan USB Debugging di Developer Options</a:t>
            </a:r>
            <a:endParaRPr lang="en-US" sz="1400" dirty="0"/>
          </a:p>
        </p:txBody>
      </p:sp>
      <p:sp>
        <p:nvSpPr>
          <p:cNvPr id="18" name="Badge"/>
          <p:cNvSpPr/>
          <p:nvPr/>
        </p:nvSpPr>
        <p:spPr>
          <a:xfrm>
            <a:off x="6217920" y="3474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4381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Hubungkan HP ke komputer dengan kabel USB</a:t>
            </a:r>
            <a:endParaRPr lang="en-US" sz="1400" dirty="0"/>
          </a:p>
        </p:txBody>
      </p:sp>
      <p:sp>
        <p:nvSpPr>
          <p:cNvPr id="21" name="Flow Setup"/>
          <p:cNvSpPr/>
          <p:nvPr/>
        </p:nvSpPr>
        <p:spPr>
          <a:xfrm>
            <a:off x="548640" y="448056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480560"/>
            <a:ext cx="438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Flow Development"/>
          <p:cNvSpPr/>
          <p:nvPr/>
        </p:nvSpPr>
        <p:spPr>
          <a:xfrm>
            <a:off x="3364992" y="448056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64992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4480560"/>
            <a:ext cx="438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Flow Debug &amp; Testing"/>
          <p:cNvSpPr/>
          <p:nvPr/>
        </p:nvSpPr>
        <p:spPr>
          <a:xfrm>
            <a:off x="6181344" y="448056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81344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&amp; Testing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58784" y="4480560"/>
            <a:ext cx="438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Flow Publishing"/>
          <p:cNvSpPr/>
          <p:nvPr/>
        </p:nvSpPr>
        <p:spPr>
          <a:xfrm>
            <a:off x="8997696" y="448056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97696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Publishing</a:t>
            </a:r>
            <a:endParaRPr lang="en-US" sz="1400" dirty="0"/>
          </a:p>
        </p:txBody>
      </p:sp>
      <p:sp>
        <p:nvSpPr>
          <p:cNvPr id="32" name="Distribusi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Distribusi APK: </a:t>
            </a:r>
            <a:r>
              <a:rPr lang="en-US" sz="1400" dirty="0">
                <a:solidFill>
                  <a:schemeClr val="tx1"/>
                </a:solidFill>
              </a:rPr>
              <a:t>Google Play Store (akun developer $25) · kirim APK lewat email · taruh APK di website. Simpan keystore dengan aman untuk update berikutnya.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02 · KOMPONEN DASAR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 &amp; Life Cycle</a:t>
            </a:r>
            <a:endParaRPr lang="en-US" sz="3400" dirty="0"/>
          </a:p>
        </p:txBody>
      </p:sp>
      <p:sp>
        <p:nvSpPr>
          <p:cNvPr id="4" name="State onCreate()"/>
          <p:cNvSpPr/>
          <p:nvPr/>
        </p:nvSpPr>
        <p:spPr>
          <a:xfrm>
            <a:off x="548640" y="1554480"/>
            <a:ext cx="1554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onCreate()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dibuat pertama kali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554480"/>
            <a:ext cx="347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tate onStart()"/>
          <p:cNvSpPr/>
          <p:nvPr/>
        </p:nvSpPr>
        <p:spPr>
          <a:xfrm>
            <a:off x="2450592" y="1554480"/>
            <a:ext cx="1554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5544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onStart()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mulai terlihat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05072" y="1554480"/>
            <a:ext cx="347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tate onResume()"/>
          <p:cNvSpPr/>
          <p:nvPr/>
        </p:nvSpPr>
        <p:spPr>
          <a:xfrm>
            <a:off x="4352544" y="1554480"/>
            <a:ext cx="1554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3984" y="15544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onResume()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user berinteraksi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07024" y="1554480"/>
            <a:ext cx="347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tate onPause()"/>
          <p:cNvSpPr/>
          <p:nvPr/>
        </p:nvSpPr>
        <p:spPr>
          <a:xfrm>
            <a:off x="6254496" y="1554480"/>
            <a:ext cx="1554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5936" y="15544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onPause()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activity lain muncul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08976" y="1554480"/>
            <a:ext cx="347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tate onStop()"/>
          <p:cNvSpPr/>
          <p:nvPr/>
        </p:nvSpPr>
        <p:spPr>
          <a:xfrm>
            <a:off x="8156448" y="1554480"/>
            <a:ext cx="1554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47888" y="15544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onStop()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tak lagi terlihat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10928" y="1554480"/>
            <a:ext cx="347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tate onDestroy()"/>
          <p:cNvSpPr/>
          <p:nvPr/>
        </p:nvSpPr>
        <p:spPr>
          <a:xfrm>
            <a:off x="10058400" y="1554480"/>
            <a:ext cx="1554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15544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onDestroy()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dihapus dari memori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17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onRestart() dipanggil setelah onStop() sebelum onStart() lagi, bila user kembali ke activity.</a:t>
            </a:r>
            <a:endParaRPr lang="en-US" sz="1400" dirty="0"/>
          </a:p>
        </p:txBody>
      </p:sp>
      <p:sp>
        <p:nvSpPr>
          <p:cNvPr id="22" name="Cara buat Activity"/>
          <p:cNvSpPr/>
          <p:nvPr/>
        </p:nvSpPr>
        <p:spPr>
          <a:xfrm>
            <a:off x="548640" y="3520440"/>
            <a:ext cx="4937760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new Activity</a:t>
            </a:r>
            <a:endParaRPr lang="en-US" sz="1400" dirty="0"/>
          </a:p>
        </p:txBody>
      </p:sp>
      <p:sp>
        <p:nvSpPr>
          <p:cNvPr id="24" name="Badge"/>
          <p:cNvSpPr/>
          <p:nvPr/>
        </p:nvSpPr>
        <p:spPr>
          <a:xfrm>
            <a:off x="822960" y="41148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0690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Definisikan layout di file XML</a:t>
            </a:r>
            <a:endParaRPr lang="en-US" sz="1400" dirty="0"/>
          </a:p>
        </p:txBody>
      </p:sp>
      <p:sp>
        <p:nvSpPr>
          <p:cNvPr id="27" name="Badge"/>
          <p:cNvSpPr/>
          <p:nvPr/>
        </p:nvSpPr>
        <p:spPr>
          <a:xfrm>
            <a:off x="822960" y="46177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45720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Buat class extends AppCompatActivity</a:t>
            </a:r>
            <a:endParaRPr lang="en-US" sz="1400" dirty="0"/>
          </a:p>
        </p:txBody>
      </p:sp>
      <p:sp>
        <p:nvSpPr>
          <p:cNvPr id="30" name="Badge"/>
          <p:cNvSpPr/>
          <p:nvPr/>
        </p:nvSpPr>
        <p:spPr>
          <a:xfrm>
            <a:off x="822960" y="51206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120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0749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Panggil setContentView() di onCreate()</a:t>
            </a:r>
            <a:endParaRPr lang="en-US" sz="1400" dirty="0"/>
          </a:p>
        </p:txBody>
      </p:sp>
      <p:sp>
        <p:nvSpPr>
          <p:cNvPr id="33" name="Badge"/>
          <p:cNvSpPr/>
          <p:nvPr/>
        </p:nvSpPr>
        <p:spPr>
          <a:xfrm>
            <a:off x="822960" y="56235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623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5778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Daftarkan di AndroidManifest.xml</a:t>
            </a:r>
            <a:endParaRPr lang="en-US" sz="1400" dirty="0"/>
          </a:p>
        </p:txBody>
      </p:sp>
      <p:sp>
        <p:nvSpPr>
          <p:cNvPr id="36" name="CodeWindow"/>
          <p:cNvSpPr/>
          <p:nvPr/>
        </p:nvSpPr>
        <p:spPr>
          <a:xfrm>
            <a:off x="5669280" y="3520440"/>
            <a:ext cx="5943600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37" name="Dot"/>
          <p:cNvSpPr/>
          <p:nvPr/>
        </p:nvSpPr>
        <p:spPr>
          <a:xfrm>
            <a:off x="5852160" y="367588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8" name="Dot"/>
          <p:cNvSpPr/>
          <p:nvPr/>
        </p:nvSpPr>
        <p:spPr>
          <a:xfrm>
            <a:off x="6035040" y="367588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Dot"/>
          <p:cNvSpPr/>
          <p:nvPr/>
        </p:nvSpPr>
        <p:spPr>
          <a:xfrm>
            <a:off x="6217920" y="367588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37960" y="3611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MainActivity.java</a:t>
            </a:r>
            <a:endParaRPr lang="en-US" sz="1100" dirty="0"/>
          </a:p>
        </p:txBody>
      </p:sp>
      <p:sp>
        <p:nvSpPr>
          <p:cNvPr id="41" name="Code"/>
          <p:cNvSpPr txBox="1"/>
          <p:nvPr/>
        </p:nvSpPr>
        <p:spPr>
          <a:xfrm>
            <a:off x="5870448" y="3977640"/>
            <a:ext cx="554126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MainActivity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AppCompatActivity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onCreate(Bundle savedInstanceState)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.onCreate(savedInstanceState);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setContentView(R.layout.activity_main);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02 · KOMPONEN DASAR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Intent: Explicit vs Implicit</a:t>
            </a:r>
            <a:endParaRPr lang="en-US" sz="3400" dirty="0"/>
          </a:p>
        </p:txBody>
      </p:sp>
      <p:sp>
        <p:nvSpPr>
          <p:cNvPr id="4" name="Explicit"/>
          <p:cNvSpPr/>
          <p:nvPr/>
        </p:nvSpPr>
        <p:spPr>
          <a:xfrm>
            <a:off x="548640" y="1554480"/>
            <a:ext cx="544068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IconCircle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6" name="Image 0" descr="pla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87314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Intent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Menyebut nama class tujuan. Dipakai untuk pindah antar activity di dalam aplikasi sendiri.</a:t>
            </a:r>
            <a:endParaRPr lang="en-US" sz="1400" dirty="0"/>
          </a:p>
        </p:txBody>
      </p:sp>
      <p:sp>
        <p:nvSpPr>
          <p:cNvPr id="9" name="CodeWindow"/>
          <p:cNvSpPr/>
          <p:nvPr/>
        </p:nvSpPr>
        <p:spPr>
          <a:xfrm>
            <a:off x="777240" y="3154680"/>
            <a:ext cx="498348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960120" y="33101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Dot"/>
          <p:cNvSpPr/>
          <p:nvPr/>
        </p:nvSpPr>
        <p:spPr>
          <a:xfrm>
            <a:off x="1143000" y="33101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Dot"/>
          <p:cNvSpPr/>
          <p:nvPr/>
        </p:nvSpPr>
        <p:spPr>
          <a:xfrm>
            <a:off x="1325880" y="33101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645920" y="32461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</a:t>
            </a:r>
            <a:endParaRPr lang="en-US" sz="1100" dirty="0"/>
          </a:p>
        </p:txBody>
      </p:sp>
      <p:sp>
        <p:nvSpPr>
          <p:cNvPr id="14" name="Code"/>
          <p:cNvSpPr txBox="1"/>
          <p:nvPr/>
        </p:nvSpPr>
        <p:spPr>
          <a:xfrm>
            <a:off x="978408" y="3611880"/>
            <a:ext cx="45811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i =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Intent(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MainActivity.this, MoveActivity.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startActivity(i);</a:t>
            </a:r>
            <a:endParaRPr lang="en-US" sz="1200" dirty="0"/>
          </a:p>
        </p:txBody>
      </p:sp>
      <p:sp>
        <p:nvSpPr>
          <p:cNvPr id="15" name="Implicit"/>
          <p:cNvSpPr/>
          <p:nvPr/>
        </p:nvSpPr>
        <p:spPr>
          <a:xfrm>
            <a:off x="6172200" y="1554480"/>
            <a:ext cx="544068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7" name="Image 1" descr="clou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08" y="1873148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8660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 Intent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23774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Hanya menyebut aksi (view map, share, dial). Sistem mencari handler lewat intent filter; jika banyak, tampil App Chooser.</a:t>
            </a:r>
            <a:endParaRPr lang="en-US" sz="1400" dirty="0"/>
          </a:p>
        </p:txBody>
      </p:sp>
      <p:sp>
        <p:nvSpPr>
          <p:cNvPr id="20" name="CodeWindow"/>
          <p:cNvSpPr/>
          <p:nvPr/>
        </p:nvSpPr>
        <p:spPr>
          <a:xfrm>
            <a:off x="6400800" y="3154680"/>
            <a:ext cx="498348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583680" y="33101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Dot"/>
          <p:cNvSpPr/>
          <p:nvPr/>
        </p:nvSpPr>
        <p:spPr>
          <a:xfrm>
            <a:off x="6766560" y="33101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Dot"/>
          <p:cNvSpPr/>
          <p:nvPr/>
        </p:nvSpPr>
        <p:spPr>
          <a:xfrm>
            <a:off x="6949440" y="33101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269480" y="32461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</a:t>
            </a:r>
            <a:endParaRPr lang="en-US" sz="1100" dirty="0"/>
          </a:p>
        </p:txBody>
      </p:sp>
      <p:sp>
        <p:nvSpPr>
          <p:cNvPr id="25" name="Code"/>
          <p:cNvSpPr txBox="1"/>
          <p:nvPr/>
        </p:nvSpPr>
        <p:spPr>
          <a:xfrm>
            <a:off x="6601968" y="3611880"/>
            <a:ext cx="45811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 uri = Uri.parse(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"tel:8005551234"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it =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Intent(Intent.ACTION_DIAL, uri);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startActivity(it);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Kegunaan umum Intent</a:t>
            </a:r>
            <a:endParaRPr lang="en-US" sz="1400" dirty="0"/>
          </a:p>
        </p:txBody>
      </p:sp>
      <p:sp>
        <p:nvSpPr>
          <p:cNvPr id="27" name="Use 1"/>
          <p:cNvSpPr/>
          <p:nvPr/>
        </p:nvSpPr>
        <p:spPr>
          <a:xfrm>
            <a:off x="548640" y="5486400"/>
            <a:ext cx="35661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Pindah activity (dengan/tanpa data)</a:t>
            </a:r>
            <a:endParaRPr lang="en-US" sz="1400" dirty="0"/>
          </a:p>
        </p:txBody>
      </p:sp>
      <p:sp>
        <p:nvSpPr>
          <p:cNvPr id="29" name="Use 2"/>
          <p:cNvSpPr/>
          <p:nvPr/>
        </p:nvSpPr>
        <p:spPr>
          <a:xfrm>
            <a:off x="4297680" y="5486400"/>
            <a:ext cx="35661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48056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Menjalankan background service</a:t>
            </a:r>
            <a:endParaRPr lang="en-US" sz="1400" dirty="0"/>
          </a:p>
        </p:txBody>
      </p:sp>
      <p:sp>
        <p:nvSpPr>
          <p:cNvPr id="31" name="Use 3"/>
          <p:cNvSpPr/>
          <p:nvPr/>
        </p:nvSpPr>
        <p:spPr>
          <a:xfrm>
            <a:off x="8046720" y="5486400"/>
            <a:ext cx="35661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22960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Mengirim broadcast ke aplikasi lain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02 · KOMPONEN DASAR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Fragment &amp; Kirim Data</a:t>
            </a:r>
            <a:endParaRPr lang="en-US" sz="3400" dirty="0"/>
          </a:p>
        </p:txBody>
      </p:sp>
      <p:sp>
        <p:nvSpPr>
          <p:cNvPr id="4" name="Fragment"/>
          <p:cNvSpPr/>
          <p:nvPr/>
        </p:nvSpPr>
        <p:spPr>
          <a:xfrm>
            <a:off x="548640" y="1554480"/>
            <a:ext cx="5120640" cy="4617720"/>
          </a:xfrm>
          <a:prstGeom prst="roundRect">
            <a:avLst>
              <a:gd name="adj" fmla="val 198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IconCircle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6" name="Image 0" descr="lay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193121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Bagian UI dengan layout XML sendiri, ditanam di dalam activity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Punya life cycle sendiri, bergantung pada activity induk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Satu activity bisa memuat banyak fragment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Tidak perlu didaftarkan di AndroidManifest.xml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Membuat tampilan fleksibel dan reusable (mirip iframe di web)</a:t>
            </a:r>
            <a:endParaRPr lang="en-US" sz="1400" dirty="0"/>
          </a:p>
        </p:txBody>
      </p:sp>
      <p:sp>
        <p:nvSpPr>
          <p:cNvPr id="9" name="CodeWindow"/>
          <p:cNvSpPr/>
          <p:nvPr/>
        </p:nvSpPr>
        <p:spPr>
          <a:xfrm>
            <a:off x="5852160" y="1554480"/>
            <a:ext cx="576072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6035040" y="17099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Dot"/>
          <p:cNvSpPr/>
          <p:nvPr/>
        </p:nvSpPr>
        <p:spPr>
          <a:xfrm>
            <a:off x="6217920" y="17099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Dot"/>
          <p:cNvSpPr/>
          <p:nvPr/>
        </p:nvSpPr>
        <p:spPr>
          <a:xfrm>
            <a:off x="6400800" y="17099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0840" y="1645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Kirim &amp; terima data</a:t>
            </a:r>
            <a:endParaRPr lang="en-US" sz="1100" dirty="0"/>
          </a:p>
        </p:txBody>
      </p:sp>
      <p:sp>
        <p:nvSpPr>
          <p:cNvPr id="14" name="Code"/>
          <p:cNvSpPr txBox="1"/>
          <p:nvPr/>
        </p:nvSpPr>
        <p:spPr>
          <a:xfrm>
            <a:off x="6053328" y="2011680"/>
            <a:ext cx="53583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Activity pertama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intent.putExtra(EXTRA_NAME,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startActivity(intent);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Activity kedua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getIntent()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.getStringExtra(EXTRA_NAME);</a:t>
            </a:r>
            <a:endParaRPr lang="en-US" sz="1300" dirty="0"/>
          </a:p>
        </p:txBody>
      </p:sp>
      <p:sp>
        <p:nvSpPr>
          <p:cNvPr id="15" name="Hasil balik"/>
          <p:cNvSpPr/>
          <p:nvPr/>
        </p:nvSpPr>
        <p:spPr>
          <a:xfrm>
            <a:off x="5852160" y="4480560"/>
            <a:ext cx="57607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2648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balik &amp; data besar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49834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startActivityForResult → setResult() → onActivityResult()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Banyak data: gunakan Bundle atau Parcelable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03 · UI &amp; UX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View, Layout, Style &amp; Theme</a:t>
            </a:r>
            <a:endParaRPr lang="en-US" sz="3400" dirty="0"/>
          </a:p>
        </p:txBody>
      </p:sp>
      <p:sp>
        <p:nvSpPr>
          <p:cNvPr id="4" name="View &amp; ViewGroup"/>
          <p:cNvSpPr/>
          <p:nvPr/>
        </p:nvSpPr>
        <p:spPr>
          <a:xfrm>
            <a:off x="548640" y="1554480"/>
            <a:ext cx="53949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ViewGroup { ... }</a:t>
            </a:r>
            <a:endParaRPr lang="en-US" sz="1400" dirty="0"/>
          </a:p>
        </p:txBody>
      </p:sp>
      <p:sp>
        <p:nvSpPr>
          <p:cNvPr id="6" name="Pill"/>
          <p:cNvSpPr/>
          <p:nvPr/>
        </p:nvSpPr>
        <p:spPr>
          <a:xfrm>
            <a:off x="822960" y="2240280"/>
            <a:ext cx="15087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TextView</a:t>
            </a:r>
            <a:endParaRPr lang="en-US" sz="1200" dirty="0"/>
          </a:p>
        </p:txBody>
      </p:sp>
      <p:sp>
        <p:nvSpPr>
          <p:cNvPr id="8" name="Pill"/>
          <p:cNvSpPr/>
          <p:nvPr/>
        </p:nvSpPr>
        <p:spPr>
          <a:xfrm>
            <a:off x="2468880" y="2240280"/>
            <a:ext cx="15087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EditText</a:t>
            </a:r>
            <a:endParaRPr lang="en-US" sz="1200" dirty="0"/>
          </a:p>
        </p:txBody>
      </p:sp>
      <p:sp>
        <p:nvSpPr>
          <p:cNvPr id="10" name="Pill"/>
          <p:cNvSpPr/>
          <p:nvPr/>
        </p:nvSpPr>
        <p:spPr>
          <a:xfrm>
            <a:off x="4114800" y="2240280"/>
            <a:ext cx="15087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200" dirty="0"/>
          </a:p>
        </p:txBody>
      </p:sp>
      <p:sp>
        <p:nvSpPr>
          <p:cNvPr id="12" name="Pill"/>
          <p:cNvSpPr/>
          <p:nvPr/>
        </p:nvSpPr>
        <p:spPr>
          <a:xfrm>
            <a:off x="822960" y="2743200"/>
            <a:ext cx="15087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ImageView</a:t>
            </a:r>
            <a:endParaRPr lang="en-US" sz="1200" dirty="0"/>
          </a:p>
        </p:txBody>
      </p:sp>
      <p:sp>
        <p:nvSpPr>
          <p:cNvPr id="14" name="Pill"/>
          <p:cNvSpPr/>
          <p:nvPr/>
        </p:nvSpPr>
        <p:spPr>
          <a:xfrm>
            <a:off x="2468880" y="2743200"/>
            <a:ext cx="150876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View = elemen UI yang berinteraksi dengan user. ViewGroup = wadah View (Linear, Relative, Grid).</a:t>
            </a:r>
            <a:endParaRPr lang="en-US" sz="1400" dirty="0"/>
          </a:p>
        </p:txBody>
      </p:sp>
      <p:sp>
        <p:nvSpPr>
          <p:cNvPr id="17" name="LinearLayout"/>
          <p:cNvSpPr/>
          <p:nvPr/>
        </p:nvSpPr>
        <p:spPr>
          <a:xfrm>
            <a:off x="6126480" y="1554480"/>
            <a:ext cx="26974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LinearLayout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satu arah, baris/kolom</a:t>
            </a:r>
            <a:endParaRPr lang="en-US" sz="1300" dirty="0"/>
          </a:p>
        </p:txBody>
      </p:sp>
      <p:sp>
        <p:nvSpPr>
          <p:cNvPr id="19" name="ConstraintLayout"/>
          <p:cNvSpPr/>
          <p:nvPr/>
        </p:nvSpPr>
        <p:spPr>
          <a:xfrm>
            <a:off x="8915400" y="1554480"/>
            <a:ext cx="26974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9828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ConstraintLayout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posisi lewat constraint</a:t>
            </a:r>
            <a:endParaRPr lang="en-US" sz="1300" dirty="0"/>
          </a:p>
        </p:txBody>
      </p:sp>
      <p:sp>
        <p:nvSpPr>
          <p:cNvPr id="21" name="GridLayout"/>
          <p:cNvSpPr/>
          <p:nvPr/>
        </p:nvSpPr>
        <p:spPr>
          <a:xfrm>
            <a:off x="6126480" y="2788920"/>
            <a:ext cx="26974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GridLayout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susunan grid</a:t>
            </a:r>
            <a:endParaRPr lang="en-US" sz="1300" dirty="0"/>
          </a:p>
        </p:txBody>
      </p:sp>
      <p:sp>
        <p:nvSpPr>
          <p:cNvPr id="23" name="TableLayout"/>
          <p:cNvSpPr/>
          <p:nvPr/>
        </p:nvSpPr>
        <p:spPr>
          <a:xfrm>
            <a:off x="8915400" y="2788920"/>
            <a:ext cx="26974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828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TableLayout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baris &amp; kolom tabel</a:t>
            </a:r>
            <a:endParaRPr lang="en-US" sz="1300" dirty="0"/>
          </a:p>
        </p:txBody>
      </p:sp>
      <p:sp>
        <p:nvSpPr>
          <p:cNvPr id="25" name="Style"/>
          <p:cNvSpPr/>
          <p:nvPr/>
        </p:nvSpPr>
        <p:spPr>
          <a:xfrm>
            <a:off x="548640" y="41605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754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Kumpulan atribut tampilan View; satu style untuk banyak komponen, kode lebih ringkas.</a:t>
            </a:r>
            <a:endParaRPr lang="en-US" sz="1500" dirty="0"/>
          </a:p>
        </p:txBody>
      </p:sp>
      <p:sp>
        <p:nvSpPr>
          <p:cNvPr id="28" name="Theme"/>
          <p:cNvSpPr/>
          <p:nvPr/>
        </p:nvSpPr>
        <p:spPr>
          <a:xfrm>
            <a:off x="3355848" y="41605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84448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584448" y="4754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Style yang diterapkan ke activity atau seluruh aplikasi lewat AndroidManifest.xml.</a:t>
            </a:r>
            <a:endParaRPr lang="en-US" sz="1500" dirty="0"/>
          </a:p>
        </p:txBody>
      </p:sp>
      <p:sp>
        <p:nvSpPr>
          <p:cNvPr id="31" name="Localization"/>
          <p:cNvSpPr/>
          <p:nvPr/>
        </p:nvSpPr>
        <p:spPr>
          <a:xfrm>
            <a:off x="6163056" y="41605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91656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Localization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91656" y="4754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Konten menyesuaikan bahasa perangkat, mis. Inggris atau Indonesia.</a:t>
            </a:r>
            <a:endParaRPr lang="en-US" sz="1500" dirty="0"/>
          </a:p>
        </p:txBody>
      </p:sp>
      <p:sp>
        <p:nvSpPr>
          <p:cNvPr id="34" name="Toast"/>
          <p:cNvSpPr/>
          <p:nvPr/>
        </p:nvSpPr>
        <p:spPr>
          <a:xfrm>
            <a:off x="8970264" y="416052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98864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Toast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4754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Pesan singkat berupa pop-up kecil yang hilang otomatis.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03 · UI &amp; UX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Interaksi Pengguna</a:t>
            </a:r>
            <a:endParaRPr lang="en-US" sz="3400" dirty="0"/>
          </a:p>
        </p:txBody>
      </p:sp>
      <p:sp>
        <p:nvSpPr>
          <p:cNvPr id="4" name="Input control"/>
          <p:cNvSpPr/>
          <p:nvPr/>
        </p:nvSpPr>
        <p:spPr>
          <a:xfrm>
            <a:off x="548640" y="1554480"/>
            <a:ext cx="667512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Control</a:t>
            </a:r>
            <a:endParaRPr lang="en-US" sz="1400" dirty="0"/>
          </a:p>
        </p:txBody>
      </p:sp>
      <p:sp>
        <p:nvSpPr>
          <p:cNvPr id="6" name="Ctl EditText"/>
          <p:cNvSpPr/>
          <p:nvPr/>
        </p:nvSpPr>
        <p:spPr>
          <a:xfrm>
            <a:off x="822960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148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EditText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ketik teks</a:t>
            </a:r>
            <a:endParaRPr lang="en-US" sz="1300" dirty="0"/>
          </a:p>
        </p:txBody>
      </p:sp>
      <p:sp>
        <p:nvSpPr>
          <p:cNvPr id="8" name="Ctl SeekBar"/>
          <p:cNvSpPr/>
          <p:nvPr/>
        </p:nvSpPr>
        <p:spPr>
          <a:xfrm>
            <a:off x="2926080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5808" y="2148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SeekBar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geser kiri/kanan</a:t>
            </a:r>
            <a:endParaRPr lang="en-US" sz="1300" dirty="0"/>
          </a:p>
        </p:txBody>
      </p:sp>
      <p:sp>
        <p:nvSpPr>
          <p:cNvPr id="10" name="Ctl CheckBox"/>
          <p:cNvSpPr/>
          <p:nvPr/>
        </p:nvSpPr>
        <p:spPr>
          <a:xfrm>
            <a:off x="5029200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38928" y="2148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pilih lebih dari satu</a:t>
            </a:r>
            <a:endParaRPr lang="en-US" sz="1300" dirty="0"/>
          </a:p>
        </p:txBody>
      </p:sp>
      <p:sp>
        <p:nvSpPr>
          <p:cNvPr id="12" name="Ctl RadioButton"/>
          <p:cNvSpPr/>
          <p:nvPr/>
        </p:nvSpPr>
        <p:spPr>
          <a:xfrm>
            <a:off x="822960" y="342900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34290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RadioButton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satu pilihan (RadioGroup)</a:t>
            </a:r>
            <a:endParaRPr lang="en-US" sz="1300" dirty="0"/>
          </a:p>
        </p:txBody>
      </p:sp>
      <p:sp>
        <p:nvSpPr>
          <p:cNvPr id="14" name="Ctl Switch"/>
          <p:cNvSpPr/>
          <p:nvPr/>
        </p:nvSpPr>
        <p:spPr>
          <a:xfrm>
            <a:off x="2926080" y="342900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35808" y="34290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on / off</a:t>
            </a:r>
            <a:endParaRPr lang="en-US" sz="1300" dirty="0"/>
          </a:p>
        </p:txBody>
      </p:sp>
      <p:sp>
        <p:nvSpPr>
          <p:cNvPr id="16" name="Ctl Spinner"/>
          <p:cNvSpPr/>
          <p:nvPr/>
        </p:nvSpPr>
        <p:spPr>
          <a:xfrm>
            <a:off x="5029200" y="342900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38928" y="34290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Spinner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pilih dari daftar</a:t>
            </a:r>
            <a:endParaRPr lang="en-US" sz="1300" dirty="0"/>
          </a:p>
        </p:txBody>
      </p:sp>
      <p:sp>
        <p:nvSpPr>
          <p:cNvPr id="18" name="Menu"/>
          <p:cNvSpPr/>
          <p:nvPr/>
        </p:nvSpPr>
        <p:spPr>
          <a:xfrm>
            <a:off x="7406640" y="1554480"/>
            <a:ext cx="42062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&amp; Dialog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0116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 bar, context menu, contextual action bar, popup menu · Alert dialog, Date &amp; Time picker</a:t>
            </a:r>
            <a:endParaRPr lang="en-US" sz="1400" dirty="0"/>
          </a:p>
        </p:txBody>
      </p:sp>
      <p:sp>
        <p:nvSpPr>
          <p:cNvPr id="21" name="Navigasi"/>
          <p:cNvSpPr/>
          <p:nvPr/>
        </p:nvSpPr>
        <p:spPr>
          <a:xfrm>
            <a:off x="7406640" y="3200400"/>
            <a:ext cx="42062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Navigasi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Back navigation (back stack), hierarchical navigation, navigation drawer</a:t>
            </a:r>
            <a:endParaRPr lang="en-US" sz="1400" dirty="0"/>
          </a:p>
        </p:txBody>
      </p:sp>
      <p:sp>
        <p:nvSpPr>
          <p:cNvPr id="24" name="CodeWindow"/>
          <p:cNvSpPr/>
          <p:nvPr/>
        </p:nvSpPr>
        <p:spPr>
          <a:xfrm>
            <a:off x="548640" y="4937760"/>
            <a:ext cx="667512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25" name="Dot"/>
          <p:cNvSpPr/>
          <p:nvPr/>
        </p:nvSpPr>
        <p:spPr>
          <a:xfrm>
            <a:off x="731520" y="509320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Dot"/>
          <p:cNvSpPr/>
          <p:nvPr/>
        </p:nvSpPr>
        <p:spPr>
          <a:xfrm>
            <a:off x="914400" y="509320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Dot"/>
          <p:cNvSpPr/>
          <p:nvPr/>
        </p:nvSpPr>
        <p:spPr>
          <a:xfrm>
            <a:off x="1097280" y="509320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417320" y="50292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 klik Button</a:t>
            </a:r>
            <a:endParaRPr lang="en-US" sz="1100" dirty="0"/>
          </a:p>
        </p:txBody>
      </p:sp>
      <p:sp>
        <p:nvSpPr>
          <p:cNvPr id="29" name="Code"/>
          <p:cNvSpPr txBox="1"/>
          <p:nvPr/>
        </p:nvSpPr>
        <p:spPr>
          <a:xfrm>
            <a:off x="749808" y="5394960"/>
            <a:ext cx="6272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button.setOnClickListener(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View.OnClickListener() 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onClick(View v) { /* aksi */ 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30" name="Alternatif"/>
          <p:cNvSpPr/>
          <p:nvPr/>
        </p:nvSpPr>
        <p:spPr>
          <a:xfrm>
            <a:off x="7406640" y="4937760"/>
            <a:ext cx="4206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35240" y="49377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Alternatif XML: </a:t>
            </a:r>
            <a:r>
              <a:rPr lang="en-US" sz="1400" dirty="0">
                <a:solidFill>
                  <a:schemeClr val="tx1"/>
                </a:solidFill>
              </a:rPr>
              <a:t>atribut android:onClick="namaMethod" pada Button.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03 · UI &amp; UX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RecyclerView: List Efisien</a:t>
            </a:r>
            <a:endParaRPr lang="en-US" sz="3400" dirty="0"/>
          </a:p>
        </p:txBody>
      </p:sp>
      <p:sp>
        <p:nvSpPr>
          <p:cNvPr id="4" name="Step Model"/>
          <p:cNvSpPr/>
          <p:nvPr/>
        </p:nvSpPr>
        <p:spPr>
          <a:xfrm>
            <a:off x="548640" y="1554480"/>
            <a:ext cx="25603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Class Book implements Parcelable: title, author, description, photo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554480"/>
            <a:ext cx="256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tep Item layout"/>
          <p:cNvSpPr/>
          <p:nvPr/>
        </p:nvSpPr>
        <p:spPr>
          <a:xfrm>
            <a:off x="3364992" y="1554480"/>
            <a:ext cx="25603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3593592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42232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layout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item_list_book.xml: gambar + TextView per baris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25312" y="1554480"/>
            <a:ext cx="256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tep Adapter"/>
          <p:cNvSpPr/>
          <p:nvPr/>
        </p:nvSpPr>
        <p:spPr>
          <a:xfrm>
            <a:off x="6181344" y="1554480"/>
            <a:ext cx="25603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409944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994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58584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Extends RecyclerView.Adapter dengan inner class ViewHolder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41664" y="1554480"/>
            <a:ext cx="256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tep MainActivity"/>
          <p:cNvSpPr/>
          <p:nvPr/>
        </p:nvSpPr>
        <p:spPr>
          <a:xfrm>
            <a:off x="8997696" y="1554480"/>
            <a:ext cx="25603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3" name="Badge"/>
          <p:cNvSpPr/>
          <p:nvPr/>
        </p:nvSpPr>
        <p:spPr>
          <a:xfrm>
            <a:off x="9226296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2629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74936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Isi list data, lalu pasang adapter ke RecyclerView</a:t>
            </a:r>
            <a:endParaRPr lang="en-US" sz="1400" dirty="0"/>
          </a:p>
        </p:txBody>
      </p:sp>
      <p:sp>
        <p:nvSpPr>
          <p:cNvPr id="27" name="CodeWindow"/>
          <p:cNvSpPr/>
          <p:nvPr/>
        </p:nvSpPr>
        <p:spPr>
          <a:xfrm>
            <a:off x="548640" y="3703320"/>
            <a:ext cx="676656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731520" y="385876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Dot"/>
          <p:cNvSpPr/>
          <p:nvPr/>
        </p:nvSpPr>
        <p:spPr>
          <a:xfrm>
            <a:off x="914400" y="385876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Dot"/>
          <p:cNvSpPr/>
          <p:nvPr/>
        </p:nvSpPr>
        <p:spPr>
          <a:xfrm>
            <a:off x="1097280" y="385876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417320" y="37947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MainActivity.java</a:t>
            </a:r>
            <a:endParaRPr lang="en-US" sz="1100" dirty="0"/>
          </a:p>
        </p:txBody>
      </p:sp>
      <p:sp>
        <p:nvSpPr>
          <p:cNvPr id="32" name="Code"/>
          <p:cNvSpPr txBox="1"/>
          <p:nvPr/>
        </p:nvSpPr>
        <p:spPr>
          <a:xfrm>
            <a:off x="749808" y="4160520"/>
            <a:ext cx="636422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ListBookAdapter listBookAdapter =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ListBookAdapter(list);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rvBook.setAdapter(listBookAdapter);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listBookAdapter.setOnItemClickCallback(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(data) -&gt; { /* item diklik */ });</a:t>
            </a:r>
            <a:endParaRPr lang="en-US" sz="1400" dirty="0"/>
          </a:p>
        </p:txBody>
      </p:sp>
      <p:sp>
        <p:nvSpPr>
          <p:cNvPr id="33" name="Method adapter"/>
          <p:cNvSpPr/>
          <p:nvPr/>
        </p:nvSpPr>
        <p:spPr>
          <a:xfrm>
            <a:off x="7498080" y="3703320"/>
            <a:ext cx="411480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266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wajib Adapter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42976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onCreateViewHolder() </a:t>
            </a:r>
            <a:r>
              <a:rPr lang="en-US" sz="1500" dirty="0">
                <a:solidFill>
                  <a:schemeClr val="tx1"/>
                </a:solidFill>
              </a:rPr>
              <a:t>membuat tampilan item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onBindViewHolder() </a:t>
            </a:r>
            <a:r>
              <a:rPr lang="en-US" sz="1500" dirty="0">
                <a:solidFill>
                  <a:schemeClr val="tx1"/>
                </a:solidFill>
              </a:rPr>
              <a:t>mengisi data ke item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Keunggulan: </a:t>
            </a:r>
            <a:r>
              <a:rPr lang="en-US" sz="1500" dirty="0">
                <a:solidFill>
                  <a:schemeClr val="tx1"/>
                </a:solidFill>
              </a:rPr>
              <a:t>lebih fleksibel dan efisien daripada ListView</a:t>
            </a:r>
            <a:endParaRPr lang="en-US" sz="15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04 · BACKGROUND TASK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AlarmManager vs JobScheduler</a:t>
            </a:r>
            <a:endParaRPr lang="en-US" sz="3400" dirty="0"/>
          </a:p>
        </p:txBody>
      </p:sp>
      <p:sp>
        <p:nvSpPr>
          <p:cNvPr id="4" name="AlarmManager"/>
          <p:cNvSpPr/>
          <p:nvPr/>
        </p:nvSpPr>
        <p:spPr>
          <a:xfrm>
            <a:off x="548640" y="1554480"/>
            <a:ext cx="5440680" cy="3794760"/>
          </a:xfrm>
          <a:prstGeom prst="roundRect">
            <a:avLst>
              <a:gd name="adj" fmla="val 241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IconCircle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6" name="Image 0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18854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AlarmManager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Penjadwalan berbasis waktu pasti atau interval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Bisa membangunkan perangkat yang sedang tidur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Jadwal hilang saat perangkat reboot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Mulai API 19; cocok untuk reminder lokal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Tugas jaringan: pakai setInexactRepeating + ELAPSED_REALTIME, hindari RTC_WAKEUP</a:t>
            </a:r>
            <a:endParaRPr lang="en-US" sz="1600" dirty="0"/>
          </a:p>
        </p:txBody>
      </p:sp>
      <p:sp>
        <p:nvSpPr>
          <p:cNvPr id="9" name="JobScheduler"/>
          <p:cNvSpPr/>
          <p:nvPr/>
        </p:nvSpPr>
        <p:spPr>
          <a:xfrm>
            <a:off x="6172200" y="1554480"/>
            <a:ext cx="5440680" cy="3794760"/>
          </a:xfrm>
          <a:prstGeom prst="roundRect">
            <a:avLst>
              <a:gd name="adj" fmla="val 241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0" name="IconCircle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1" name="Image 1" descr="co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18854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JobScheduler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5146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Tugas jalan saat kriteria di JobInfo.Builder() terpenuhi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Tetap berjalan setelah reboot, lebih hemat baterai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Lebih fleksibel, tetapi hanya API 21 ke atas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JobService: onStartJob(), jobFinished(), onStopJob()</a:t>
            </a:r>
            <a:endParaRPr lang="en-US" sz="1600" dirty="0"/>
          </a:p>
        </p:txBody>
      </p:sp>
      <p:sp>
        <p:nvSpPr>
          <p:cNvPr id="14" name="Aturan praktis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Aturan praktis: </a:t>
            </a:r>
            <a:r>
              <a:rPr lang="en-US" sz="1400" dirty="0">
                <a:solidFill>
                  <a:schemeClr val="tx1"/>
                </a:solidFill>
              </a:rPr>
              <a:t>butuh waktu tepat → AlarmManager · tugas dengan kondisi tertentu dan hemat daya → JobScheduler.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04 · BACKGROUND TASK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Notifikasi Android</a:t>
            </a:r>
            <a:endParaRPr lang="en-US" sz="3400" dirty="0"/>
          </a:p>
        </p:txBody>
      </p:sp>
      <p:sp>
        <p:nvSpPr>
          <p:cNvPr id="4" name="Step NotificationChannel"/>
          <p:cNvSpPr/>
          <p:nvPr/>
        </p:nvSpPr>
        <p:spPr>
          <a:xfrm>
            <a:off x="548640" y="155448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71907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NotificationChannel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wajib di API 26+, muncul di Settings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554480"/>
            <a:ext cx="246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tep Builder"/>
          <p:cNvSpPr/>
          <p:nvPr/>
        </p:nvSpPr>
        <p:spPr>
          <a:xfrm>
            <a:off x="2807208" y="155448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2990088" y="171907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90088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buat isi notifikasi: icon, title, teks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554480"/>
            <a:ext cx="246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tep PendingIntent"/>
          <p:cNvSpPr/>
          <p:nvPr/>
        </p:nvSpPr>
        <p:spPr>
          <a:xfrm>
            <a:off x="5065776" y="155448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5248656" y="171907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48656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PendingIntent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merespon klik notifikasi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1554480"/>
            <a:ext cx="246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tep notify()"/>
          <p:cNvSpPr/>
          <p:nvPr/>
        </p:nvSpPr>
        <p:spPr>
          <a:xfrm>
            <a:off x="7324344" y="155448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3" name="Badge"/>
          <p:cNvSpPr/>
          <p:nvPr/>
        </p:nvSpPr>
        <p:spPr>
          <a:xfrm>
            <a:off x="7507224" y="171907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0722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notify()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NotificationManager mengirim dengan ID unik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1554480"/>
            <a:ext cx="246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tep Update / cancel"/>
          <p:cNvSpPr/>
          <p:nvPr/>
        </p:nvSpPr>
        <p:spPr>
          <a:xfrm>
            <a:off x="9582912" y="1554480"/>
            <a:ext cx="2011680" cy="21031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9765792" y="171907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65792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2148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/ cancel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20072" y="2651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ubah atau batalkan notifikasi yang ada</a:t>
            </a:r>
            <a:endParaRPr lang="en-US" sz="1400" dirty="0"/>
          </a:p>
        </p:txBody>
      </p:sp>
      <p:sp>
        <p:nvSpPr>
          <p:cNvPr id="33" name="CodeWindow"/>
          <p:cNvSpPr/>
          <p:nvPr/>
        </p:nvSpPr>
        <p:spPr>
          <a:xfrm>
            <a:off x="548640" y="3886200"/>
            <a:ext cx="694944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34" name="Dot"/>
          <p:cNvSpPr/>
          <p:nvPr/>
        </p:nvSpPr>
        <p:spPr>
          <a:xfrm>
            <a:off x="731520" y="404164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Dot"/>
          <p:cNvSpPr/>
          <p:nvPr/>
        </p:nvSpPr>
        <p:spPr>
          <a:xfrm>
            <a:off x="914400" y="404164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Dot"/>
          <p:cNvSpPr/>
          <p:nvPr/>
        </p:nvSpPr>
        <p:spPr>
          <a:xfrm>
            <a:off x="1097280" y="404164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417320" y="39776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MainActivity.java</a:t>
            </a:r>
            <a:endParaRPr lang="en-US" sz="1100" dirty="0"/>
          </a:p>
        </p:txBody>
      </p:sp>
      <p:sp>
        <p:nvSpPr>
          <p:cNvPr id="38" name="Code"/>
          <p:cNvSpPr txBox="1"/>
          <p:nvPr/>
        </p:nvSpPr>
        <p:spPr>
          <a:xfrm>
            <a:off x="749808" y="4343400"/>
            <a:ext cx="65471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NotificationChannel ch = 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NotificationChannel(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PRIMARY_CHANNEL_ID, 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"Mascot Notification"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NotificationManager.IMPORTANCE_HIGH);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mNotifyManager.createNotificationChannel(ch);</a:t>
            </a:r>
            <a:endParaRPr lang="en-US" sz="1400" dirty="0"/>
          </a:p>
        </p:txBody>
      </p:sp>
      <p:sp>
        <p:nvSpPr>
          <p:cNvPr id="39" name="Catatan"/>
          <p:cNvSpPr/>
          <p:nvPr/>
        </p:nvSpPr>
        <p:spPr>
          <a:xfrm>
            <a:off x="7680960" y="3886200"/>
            <a:ext cx="39319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40" name="IconCircle"/>
          <p:cNvSpPr/>
          <p:nvPr/>
        </p:nvSpPr>
        <p:spPr>
          <a:xfrm>
            <a:off x="7909560" y="40690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41" name="Image 0" descr="wa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04" y="4192524"/>
            <a:ext cx="210312" cy="210312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850392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Catatan penting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909560" y="46634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Lupa memanggil createNotificationChannel() di onCreate() bisa membuat app crash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Icon wajib; title dan teks opsional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05 · PENYIMPANAN DATA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Opsi Penyimpanan Data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dalam perangkat</a:t>
            </a:r>
            <a:endParaRPr lang="en-US" sz="1400" dirty="0"/>
          </a:p>
        </p:txBody>
      </p:sp>
      <p:sp>
        <p:nvSpPr>
          <p:cNvPr id="5" name="Dev SharedPreferences"/>
          <p:cNvSpPr/>
          <p:nvPr/>
        </p:nvSpPr>
        <p:spPr>
          <a:xfrm>
            <a:off x="548640" y="1874520"/>
            <a:ext cx="67665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primitif key-value, privat</a:t>
            </a:r>
            <a:endParaRPr lang="en-US" sz="1300" dirty="0"/>
          </a:p>
        </p:txBody>
      </p:sp>
      <p:sp>
        <p:nvSpPr>
          <p:cNvPr id="7" name="Dev Internal Storage"/>
          <p:cNvSpPr/>
          <p:nvPr/>
        </p:nvSpPr>
        <p:spPr>
          <a:xfrm>
            <a:off x="548640" y="2724912"/>
            <a:ext cx="67665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249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Storage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privat; terhapus saat aplikasi di-uninstall</a:t>
            </a:r>
            <a:endParaRPr lang="en-US" sz="1300" dirty="0"/>
          </a:p>
        </p:txBody>
      </p:sp>
      <p:sp>
        <p:nvSpPr>
          <p:cNvPr id="9" name="Dev External Storage"/>
          <p:cNvSpPr/>
          <p:nvPr/>
        </p:nvSpPr>
        <p:spPr>
          <a:xfrm>
            <a:off x="548640" y="3575304"/>
            <a:ext cx="67665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75304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Storage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publik (SD Card), butuh permission di Manifest</a:t>
            </a:r>
            <a:endParaRPr lang="en-US" sz="1300" dirty="0"/>
          </a:p>
        </p:txBody>
      </p:sp>
      <p:sp>
        <p:nvSpPr>
          <p:cNvPr id="11" name="Dev SQLite Database"/>
          <p:cNvSpPr/>
          <p:nvPr/>
        </p:nvSpPr>
        <p:spPr>
          <a:xfrm>
            <a:off x="548640" y="4425696"/>
            <a:ext cx="67665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425696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Database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privat terstruktur</a:t>
            </a:r>
            <a:endParaRPr lang="en-US" sz="1300" dirty="0"/>
          </a:p>
        </p:txBody>
      </p:sp>
      <p:sp>
        <p:nvSpPr>
          <p:cNvPr id="13" name="Dev Content Provider"/>
          <p:cNvSpPr/>
          <p:nvPr/>
        </p:nvSpPr>
        <p:spPr>
          <a:xfrm>
            <a:off x="548640" y="5276088"/>
            <a:ext cx="67665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27608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Provider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privat, dapat dibagikan ke publik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luar perangkat</a:t>
            </a:r>
            <a:endParaRPr lang="en-US" sz="1400" dirty="0"/>
          </a:p>
        </p:txBody>
      </p:sp>
      <p:sp>
        <p:nvSpPr>
          <p:cNvPr id="16" name="Ext Koneksi jaringan"/>
          <p:cNvSpPr/>
          <p:nvPr/>
        </p:nvSpPr>
        <p:spPr>
          <a:xfrm>
            <a:off x="7589520" y="187452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18745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Koneksi jaringan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web dengan server sendiri</a:t>
            </a:r>
            <a:endParaRPr lang="en-US" sz="1300" dirty="0"/>
          </a:p>
        </p:txBody>
      </p:sp>
      <p:sp>
        <p:nvSpPr>
          <p:cNvPr id="18" name="Ext Cloud backup"/>
          <p:cNvSpPr/>
          <p:nvPr/>
        </p:nvSpPr>
        <p:spPr>
          <a:xfrm>
            <a:off x="7589520" y="329184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32918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backup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cadangan aplikasi dan data user</a:t>
            </a:r>
            <a:endParaRPr lang="en-US" sz="1300" dirty="0"/>
          </a:p>
        </p:txBody>
      </p:sp>
      <p:sp>
        <p:nvSpPr>
          <p:cNvPr id="20" name="Ext Firebase Realtime DB"/>
          <p:cNvSpPr/>
          <p:nvPr/>
        </p:nvSpPr>
        <p:spPr>
          <a:xfrm>
            <a:off x="7589520" y="470916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47091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 Realtime DB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NoSQL cloud, sinkron realtime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05 · PENYIMPANAN DATA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SharedPreferences</a:t>
            </a:r>
            <a:endParaRPr lang="en-US" sz="3400" dirty="0"/>
          </a:p>
        </p:txBody>
      </p:sp>
      <p:sp>
        <p:nvSpPr>
          <p:cNvPr id="4" name="CodeWindow"/>
          <p:cNvSpPr/>
          <p:nvPr/>
        </p:nvSpPr>
        <p:spPr>
          <a:xfrm>
            <a:off x="548640" y="1554480"/>
            <a:ext cx="6035040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731520" y="17099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Dot"/>
          <p:cNvSpPr/>
          <p:nvPr/>
        </p:nvSpPr>
        <p:spPr>
          <a:xfrm>
            <a:off x="914400" y="17099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Dot"/>
          <p:cNvSpPr/>
          <p:nvPr/>
        </p:nvSpPr>
        <p:spPr>
          <a:xfrm>
            <a:off x="1097280" y="17099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645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MainActivity.java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749808" y="2011680"/>
            <a:ext cx="563270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simpan di onPause()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SharedPreferences.Editor ed = mPreferences.edit();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ed.putInt(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"count"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mCount);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ed.apply();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pulihkan di onCreate()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mPreferences = getSharedPreferences(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sharedPrefFile, MODE_PRIVATE);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mCount = mPreferences.getInt(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"count"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1);</a:t>
            </a:r>
            <a:endParaRPr lang="en-US" sz="1300" dirty="0"/>
          </a:p>
        </p:txBody>
      </p:sp>
      <p:sp>
        <p:nvSpPr>
          <p:cNvPr id="10" name="Fakta"/>
          <p:cNvSpPr/>
          <p:nvPr/>
        </p:nvSpPr>
        <p:spPr>
          <a:xfrm>
            <a:off x="548640" y="4983480"/>
            <a:ext cx="6035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983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Tipe data: </a:t>
            </a:r>
            <a:r>
              <a:rPr lang="en-US" sz="1400" dirty="0">
                <a:solidFill>
                  <a:schemeClr val="tx1"/>
                </a:solidFill>
              </a:rPr>
              <a:t>boolean, float, int, long, String. Disimpan sebagai file XML, tetap ada walau aplikasi di-kill. Gunakan MODE_PRIVATE.</a:t>
            </a:r>
            <a:endParaRPr lang="en-US" sz="1400" dirty="0"/>
          </a:p>
        </p:txBody>
      </p:sp>
      <p:sp>
        <p:nvSpPr>
          <p:cNvPr id="12" name="SharedPreferences"/>
          <p:cNvSpPr/>
          <p:nvPr/>
        </p:nvSpPr>
        <p:spPr>
          <a:xfrm>
            <a:off x="6766560" y="1554480"/>
            <a:ext cx="4846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1031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Bertahan lintas sesi, meski app dimatikan atau device reboot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Untuk pengaturan user atau skor game</a:t>
            </a:r>
            <a:endParaRPr lang="en-US" sz="1400" dirty="0"/>
          </a:p>
        </p:txBody>
      </p:sp>
      <p:sp>
        <p:nvSpPr>
          <p:cNvPr id="15" name="Saved Instance State"/>
          <p:cNvSpPr/>
          <p:nvPr/>
        </p:nvSpPr>
        <p:spPr>
          <a:xfrm>
            <a:off x="6766560" y="4023360"/>
            <a:ext cx="48463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Instance State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45720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Hanya bertahan dalam sesi yang sama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Untuk membuat ulang state setelah layar diputar (rotate)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05 · PENYIMPANAN DATA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SQLite &amp; CRUD</a:t>
            </a:r>
            <a:endParaRPr lang="en-US" sz="3400" dirty="0"/>
          </a:p>
        </p:txBody>
      </p:sp>
      <p:sp>
        <p:nvSpPr>
          <p:cNvPr id="4" name="CodeWindow"/>
          <p:cNvSpPr/>
          <p:nvPr/>
        </p:nvSpPr>
        <p:spPr>
          <a:xfrm>
            <a:off x="548640" y="1554480"/>
            <a:ext cx="5943600" cy="4617720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731520" y="17099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Dot"/>
          <p:cNvSpPr/>
          <p:nvPr/>
        </p:nvSpPr>
        <p:spPr>
          <a:xfrm>
            <a:off x="914400" y="17099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Dot"/>
          <p:cNvSpPr/>
          <p:nvPr/>
        </p:nvSpPr>
        <p:spPr>
          <a:xfrm>
            <a:off x="1097280" y="17099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645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DataHelper.java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749808" y="2011680"/>
            <a:ext cx="5541264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DataHelper </a:t>
            </a: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SQLiteOpenHelper {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onCreate(SQLiteDatabase db) {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db.execSQL(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table biodata("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integer primary key, nama text...);"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db.rawQuery(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biodata"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cursor.moveToFirst();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/ Update / Delete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db.execSQL(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biodata(...) values(...)"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508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SQLiteOpenHelper(Context, nama_db, versi) membuat database, onCreate() menjalankan perintah CREATE TABLE.</a:t>
            </a:r>
            <a:endParaRPr lang="en-US" sz="1400" dirty="0"/>
          </a:p>
        </p:txBody>
      </p:sp>
      <p:sp>
        <p:nvSpPr>
          <p:cNvPr id="11" name="CRUD Create"/>
          <p:cNvSpPr/>
          <p:nvPr/>
        </p:nvSpPr>
        <p:spPr>
          <a:xfrm>
            <a:off x="6720840" y="2377440"/>
            <a:ext cx="48920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2" name="CRUD badge"/>
          <p:cNvSpPr/>
          <p:nvPr/>
        </p:nvSpPr>
        <p:spPr>
          <a:xfrm>
            <a:off x="6949440" y="2532888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2532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3774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execSQL: insert into biodata</a:t>
            </a:r>
            <a:endParaRPr lang="en-US" sz="1400" dirty="0"/>
          </a:p>
        </p:txBody>
      </p:sp>
      <p:sp>
        <p:nvSpPr>
          <p:cNvPr id="15" name="CRUD Read"/>
          <p:cNvSpPr/>
          <p:nvPr/>
        </p:nvSpPr>
        <p:spPr>
          <a:xfrm>
            <a:off x="6720840" y="3355848"/>
            <a:ext cx="48920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6" name="CRUD badge"/>
          <p:cNvSpPr/>
          <p:nvPr/>
        </p:nvSpPr>
        <p:spPr>
          <a:xfrm>
            <a:off x="6949440" y="351129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35584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rawQuery() dan Cursor</a:t>
            </a:r>
            <a:endParaRPr lang="en-US" sz="1400" dirty="0"/>
          </a:p>
        </p:txBody>
      </p:sp>
      <p:sp>
        <p:nvSpPr>
          <p:cNvPr id="19" name="CRUD Update"/>
          <p:cNvSpPr/>
          <p:nvPr/>
        </p:nvSpPr>
        <p:spPr>
          <a:xfrm>
            <a:off x="6720840" y="4334256"/>
            <a:ext cx="48920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0" name="CRUD badge"/>
          <p:cNvSpPr/>
          <p:nvPr/>
        </p:nvSpPr>
        <p:spPr>
          <a:xfrm>
            <a:off x="6949440" y="4489704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4489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33425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execSQL: update biodata set ...</a:t>
            </a:r>
            <a:endParaRPr lang="en-US" sz="1400" dirty="0"/>
          </a:p>
        </p:txBody>
      </p:sp>
      <p:sp>
        <p:nvSpPr>
          <p:cNvPr id="23" name="CRUD Delete"/>
          <p:cNvSpPr/>
          <p:nvPr/>
        </p:nvSpPr>
        <p:spPr>
          <a:xfrm>
            <a:off x="6720840" y="5312664"/>
            <a:ext cx="489204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4" name="CRUD badge"/>
          <p:cNvSpPr/>
          <p:nvPr/>
        </p:nvSpPr>
        <p:spPr>
          <a:xfrm>
            <a:off x="6949440" y="546811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49440" y="5468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31266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execSQL: delete from biodata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BAB 06 · FIREBASE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Firebase Realtime Database</a:t>
            </a:r>
            <a:endParaRPr lang="en-US" sz="3400" dirty="0"/>
          </a:p>
        </p:txBody>
      </p:sp>
      <p:sp>
        <p:nvSpPr>
          <p:cNvPr id="4" name="Kenapa Firebase"/>
          <p:cNvSpPr/>
          <p:nvPr/>
        </p:nvSpPr>
        <p:spPr>
          <a:xfrm>
            <a:off x="548640" y="1554480"/>
            <a:ext cx="52120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IconCircle"/>
          <p:cNvSpPr/>
          <p:nvPr/>
        </p:nvSpPr>
        <p:spPr>
          <a:xfrm>
            <a:off x="822960" y="1719072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6" name="Image 0" descr="fi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854860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190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Kenapa Firebase?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Database NoSQL di cloud, data berbentuk JSON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Sinkron realtime ke semua client, tersedia saat offline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Tanpa mengatur server sendiri</a:t>
            </a:r>
            <a:endParaRPr lang="en-US" sz="1400" dirty="0"/>
          </a:p>
        </p:txBody>
      </p:sp>
      <p:sp>
        <p:nvSpPr>
          <p:cNvPr id="9" name="Setup"/>
          <p:cNvSpPr/>
          <p:nvPr/>
        </p:nvSpPr>
        <p:spPr>
          <a:xfrm>
            <a:off x="548640" y="3886200"/>
            <a:ext cx="521208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005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Langkah setup</a:t>
            </a:r>
            <a:endParaRPr lang="en-US" sz="1400" dirty="0"/>
          </a:p>
        </p:txBody>
      </p:sp>
      <p:sp>
        <p:nvSpPr>
          <p:cNvPr id="11" name="Badge"/>
          <p:cNvSpPr/>
          <p:nvPr/>
        </p:nvSpPr>
        <p:spPr>
          <a:xfrm>
            <a:off x="822960" y="440740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3708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Buat project di console.firebase.google.com</a:t>
            </a:r>
            <a:endParaRPr lang="en-US" sz="1400" dirty="0"/>
          </a:p>
        </p:txBody>
      </p:sp>
      <p:sp>
        <p:nvSpPr>
          <p:cNvPr id="14" name="Badge"/>
          <p:cNvSpPr/>
          <p:nvPr/>
        </p:nvSpPr>
        <p:spPr>
          <a:xfrm>
            <a:off x="822960" y="483717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8006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 app dengan nama package</a:t>
            </a:r>
            <a:endParaRPr lang="en-US" sz="1400" dirty="0"/>
          </a:p>
        </p:txBody>
      </p:sp>
      <p:sp>
        <p:nvSpPr>
          <p:cNvPr id="17" name="Badge"/>
          <p:cNvSpPr/>
          <p:nvPr/>
        </p:nvSpPr>
        <p:spPr>
          <a:xfrm>
            <a:off x="822960" y="526694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52303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Taruh google-services.json, tambah plugin Gradle</a:t>
            </a:r>
            <a:endParaRPr lang="en-US" sz="1400" dirty="0"/>
          </a:p>
        </p:txBody>
      </p:sp>
      <p:sp>
        <p:nvSpPr>
          <p:cNvPr id="20" name="Badge"/>
          <p:cNvSpPr/>
          <p:nvPr/>
        </p:nvSpPr>
        <p:spPr>
          <a:xfrm>
            <a:off x="822960" y="56967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5696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56601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Atur Rules (aman: auth != null)</a:t>
            </a:r>
            <a:endParaRPr lang="en-US" sz="1400" dirty="0"/>
          </a:p>
        </p:txBody>
      </p:sp>
      <p:sp>
        <p:nvSpPr>
          <p:cNvPr id="23" name="CodeWindow"/>
          <p:cNvSpPr/>
          <p:nvPr/>
        </p:nvSpPr>
        <p:spPr>
          <a:xfrm>
            <a:off x="5943600" y="1554480"/>
            <a:ext cx="5669280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24" name="Dot"/>
          <p:cNvSpPr/>
          <p:nvPr/>
        </p:nvSpPr>
        <p:spPr>
          <a:xfrm>
            <a:off x="6126480" y="17099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Dot"/>
          <p:cNvSpPr/>
          <p:nvPr/>
        </p:nvSpPr>
        <p:spPr>
          <a:xfrm>
            <a:off x="6309360" y="17099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Dot"/>
          <p:cNvSpPr/>
          <p:nvPr/>
        </p:nvSpPr>
        <p:spPr>
          <a:xfrm>
            <a:off x="6492240" y="17099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1228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MainActivity.java</a:t>
            </a:r>
            <a:endParaRPr lang="en-US" sz="1100" dirty="0"/>
          </a:p>
        </p:txBody>
      </p:sp>
      <p:sp>
        <p:nvSpPr>
          <p:cNvPr id="28" name="Code"/>
          <p:cNvSpPr txBox="1"/>
          <p:nvPr/>
        </p:nvSpPr>
        <p:spPr>
          <a:xfrm>
            <a:off x="6144768" y="2011680"/>
            <a:ext cx="52669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mFirebaseReference =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FirebaseDatabase.getInstance().getReference();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/ Update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id = mFirebaseReference.push().getKey();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mFirebaseReference.child(id).setValue(agenda);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(realtime) di onStart()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mFirebaseReference.addValueEventListener(...);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mFirebaseReference.child(id).removeValue();</a:t>
            </a:r>
            <a:endParaRPr lang="en-US" sz="1200" dirty="0"/>
          </a:p>
        </p:txBody>
      </p:sp>
      <p:sp>
        <p:nvSpPr>
          <p:cNvPr id="29" name="Warning"/>
          <p:cNvSpPr/>
          <p:nvPr/>
        </p:nvSpPr>
        <p:spPr>
          <a:xfrm>
            <a:off x="5943600" y="5257800"/>
            <a:ext cx="5669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0" name="IconCircle"/>
          <p:cNvSpPr/>
          <p:nvPr/>
        </p:nvSpPr>
        <p:spPr>
          <a:xfrm>
            <a:off x="6126480" y="5431536"/>
            <a:ext cx="566928" cy="5669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31" name="Image 1" descr="k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551" y="5584607"/>
            <a:ext cx="260787" cy="260787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858000" y="5257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Rules read/write = true berarti terbuka untuk semua. Untuk produksi, wajibkan autentikasi.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RINGKASAN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Ringkasan Akhir</a:t>
            </a:r>
            <a:endParaRPr lang="en-US" sz="3400" dirty="0"/>
          </a:p>
        </p:txBody>
      </p:sp>
      <p:sp>
        <p:nvSpPr>
          <p:cNvPr id="4" name="CodeWindow"/>
          <p:cNvSpPr/>
          <p:nvPr/>
        </p:nvSpPr>
        <p:spPr>
          <a:xfrm>
            <a:off x="548640" y="1554480"/>
            <a:ext cx="6400800" cy="4617720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9525">
            <a:solidFill>
              <a:schemeClr val="tx2">
                <a:alpha val="45000"/>
              </a:schemeClr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731520" y="170992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Dot"/>
          <p:cNvSpPr/>
          <p:nvPr/>
        </p:nvSpPr>
        <p:spPr>
          <a:xfrm>
            <a:off x="914400" y="1709928"/>
            <a:ext cx="100584" cy="1005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Dot"/>
          <p:cNvSpPr/>
          <p:nvPr/>
        </p:nvSpPr>
        <p:spPr>
          <a:xfrm>
            <a:off x="1097280" y="170992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645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749808" y="2011680"/>
            <a:ext cx="5998464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a1f0b01 Bab 1: Android, Studio, SDK, AVD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b2c3d02 Bab 2: Activity, Intent, Fragment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c3d4e03 Bab 3: View, layout, RecyclerView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d4e5f04 Bab 4: Alarm, Job, Notification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e5f6a05 Bab 5: SharedPrefs &amp; SQLite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f6a7b06 Bab 6: Firebase Realtime DB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HEAD -&gt; main: siap membangun aplikasi</a:t>
            </a:r>
            <a:endParaRPr lang="en-US" sz="1500" dirty="0"/>
          </a:p>
        </p:txBody>
      </p:sp>
      <p:sp>
        <p:nvSpPr>
          <p:cNvPr id="10" name="Takeaway Fondasi"/>
          <p:cNvSpPr/>
          <p:nvPr/>
        </p:nvSpPr>
        <p:spPr>
          <a:xfrm>
            <a:off x="7132320" y="1554480"/>
            <a:ext cx="44805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7360920" y="196596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2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53" y="2114093"/>
            <a:ext cx="252374" cy="25237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138160" y="15544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Fondasi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Activity, Intent, dan Fragment adalah dasar semua aplikasi Android.</a:t>
            </a:r>
            <a:endParaRPr lang="en-US" sz="1400" dirty="0"/>
          </a:p>
        </p:txBody>
      </p:sp>
      <p:sp>
        <p:nvSpPr>
          <p:cNvPr id="14" name="Takeaway Tampilan"/>
          <p:cNvSpPr/>
          <p:nvPr/>
        </p:nvSpPr>
        <p:spPr>
          <a:xfrm>
            <a:off x="7132320" y="3154680"/>
            <a:ext cx="44805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5" name="IconCircle"/>
          <p:cNvSpPr/>
          <p:nvPr/>
        </p:nvSpPr>
        <p:spPr>
          <a:xfrm>
            <a:off x="7360920" y="356616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16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53" y="3714293"/>
            <a:ext cx="252374" cy="25237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138160" y="31546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Tampilan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Gunakan layout yang tepat dan RecyclerView untuk daftar data.</a:t>
            </a:r>
            <a:endParaRPr lang="en-US" sz="1400" dirty="0"/>
          </a:p>
        </p:txBody>
      </p:sp>
      <p:sp>
        <p:nvSpPr>
          <p:cNvPr id="18" name="Takeaway Data"/>
          <p:cNvSpPr/>
          <p:nvPr/>
        </p:nvSpPr>
        <p:spPr>
          <a:xfrm>
            <a:off x="7132320" y="4754880"/>
            <a:ext cx="44805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9" name="IconCircle"/>
          <p:cNvSpPr/>
          <p:nvPr/>
        </p:nvSpPr>
        <p:spPr>
          <a:xfrm>
            <a:off x="7360920" y="516636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pic>
        <p:nvPicPr>
          <p:cNvPr id="20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53" y="5314493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38160" y="47548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Pilih penyimpanan sesuai kebutuhan: lokal, SQLite, atau cloud.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01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REFERENSI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Daftar Pustaka</a:t>
            </a:r>
            <a:endParaRPr lang="en-US" sz="3400" dirty="0"/>
          </a:p>
        </p:txBody>
      </p:sp>
      <p:sp>
        <p:nvSpPr>
          <p:cNvPr id="4" name="Daftar pustaka"/>
          <p:cNvSpPr/>
          <p:nvPr/>
        </p:nvSpPr>
        <p:spPr>
          <a:xfrm>
            <a:off x="548640" y="1554480"/>
            <a:ext cx="11064240" cy="4617720"/>
          </a:xfrm>
          <a:prstGeom prst="roundRect">
            <a:avLst>
              <a:gd name="adj" fmla="val 1980"/>
            </a:avLst>
          </a:prstGeom>
          <a:solidFill>
            <a:schemeClr val="bg2"/>
          </a:solidFill>
          <a:ln w="6350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868680" y="18288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Susanti, E. (2020). Pemrograman Mobile Android dengan Java (Modul Bab 1–6). Sumber utama ringkasan ini.</a:t>
            </a:r>
            <a:endParaRPr lang="en-US" sz="1400" dirty="0"/>
          </a:p>
        </p:txBody>
      </p:sp>
      <p:sp>
        <p:nvSpPr>
          <p:cNvPr id="8" name="Badge"/>
          <p:cNvSpPr/>
          <p:nvPr/>
        </p:nvSpPr>
        <p:spPr>
          <a:xfrm>
            <a:off x="868680" y="24140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3682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Google Developers. Android Developers. https://developer.android.com/ (diakses November 2020).</a:t>
            </a:r>
            <a:endParaRPr lang="en-US" sz="1400" dirty="0"/>
          </a:p>
        </p:txBody>
      </p:sp>
      <p:sp>
        <p:nvSpPr>
          <p:cNvPr id="11" name="Badge"/>
          <p:cNvSpPr/>
          <p:nvPr/>
        </p:nvSpPr>
        <p:spPr>
          <a:xfrm>
            <a:off x="868680" y="29992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9535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Google Developer Training Team. (2016). Practical Workbook, Android Developer Fundamentals Course.</a:t>
            </a:r>
            <a:endParaRPr lang="en-US" sz="1400" dirty="0"/>
          </a:p>
        </p:txBody>
      </p:sp>
      <p:sp>
        <p:nvSpPr>
          <p:cNvPr id="14" name="Badge"/>
          <p:cNvSpPr/>
          <p:nvPr/>
        </p:nvSpPr>
        <p:spPr>
          <a:xfrm>
            <a:off x="868680" y="35844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387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Griffiths, D. &amp; Griffiths, D. (2017). Head First Android Development, 2nd Edition. O’Reilly Media.</a:t>
            </a:r>
            <a:endParaRPr lang="en-US" sz="1400" dirty="0"/>
          </a:p>
        </p:txBody>
      </p:sp>
      <p:sp>
        <p:nvSpPr>
          <p:cNvPr id="17" name="Badge"/>
          <p:cNvSpPr/>
          <p:nvPr/>
        </p:nvSpPr>
        <p:spPr>
          <a:xfrm>
            <a:off x="868680" y="41696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1239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Hamzah, A. &amp; Susanti, E. (2018). Modul Praktikum Pemrograman Mobile dengan Android. AKPRIND Press.</a:t>
            </a:r>
            <a:endParaRPr lang="en-US" sz="1400" dirty="0"/>
          </a:p>
        </p:txBody>
      </p:sp>
      <p:sp>
        <p:nvSpPr>
          <p:cNvPr id="20" name="Badge"/>
          <p:cNvSpPr/>
          <p:nvPr/>
        </p:nvSpPr>
        <p:spPr>
          <a:xfrm>
            <a:off x="868680" y="4754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709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Imaduddin, A. &amp; Permana, S. (2017). Menjadi Android Developer Expert Seri Android Associate. Presentalogics.</a:t>
            </a:r>
            <a:endParaRPr lang="en-US" sz="1400" dirty="0"/>
          </a:p>
        </p:txBody>
      </p:sp>
      <p:sp>
        <p:nvSpPr>
          <p:cNvPr id="23" name="Badge"/>
          <p:cNvSpPr/>
          <p:nvPr/>
        </p:nvSpPr>
        <p:spPr>
          <a:xfrm>
            <a:off x="868680" y="53400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2943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Smyth, N. (2016). Android Studio Development Essentials – Android 7 Edition.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Terminal">
  <a:themeElements>
    <a:clrScheme name="Dark Terminal">
      <a:dk1>
        <a:srgbClr val="E6EDF3"/>
      </a:dk1>
      <a:lt1>
        <a:srgbClr val="0D1117"/>
      </a:lt1>
      <a:dk2>
        <a:srgbClr val="9DA7B3"/>
      </a:dk2>
      <a:lt2>
        <a:srgbClr val="1A2230"/>
      </a:lt2>
      <a:accent1>
        <a:srgbClr val="3FB950"/>
      </a:accent1>
      <a:accent2>
        <a:srgbClr val="F0B429"/>
      </a:accent2>
      <a:accent3>
        <a:srgbClr val="79C0FF"/>
      </a:accent3>
      <a:accent4>
        <a:srgbClr val="FF7B72"/>
      </a:accent4>
      <a:accent5>
        <a:srgbClr val="D2A8FF"/>
      </a:accent5>
      <a:accent6>
        <a:srgbClr val="56D4DD"/>
      </a:accent6>
      <a:hlink>
        <a:srgbClr val="79C0FF"/>
      </a:hlink>
      <a:folHlink>
        <a:srgbClr val="D2A8FF"/>
      </a:folHlink>
    </a:clrScheme>
    <a:fontScheme name="Dark Terminal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2017</Words>
  <Application>Microsoft Office PowerPoint</Application>
  <PresentationFormat>Widescreen</PresentationFormat>
  <Paragraphs>469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Dark Terminal</vt:lpstr>
      <vt:lpstr>Pemrograman Mobile Android dengan Java</vt:lpstr>
      <vt:lpstr>Peta Materi</vt:lpstr>
      <vt:lpstr>Android &amp; Arsitekturnya</vt:lpstr>
      <vt:lpstr>Lingkungan Pengembangan</vt:lpstr>
      <vt:lpstr>Struktur Project &amp; Siklus Rilis</vt:lpstr>
      <vt:lpstr>Activity &amp; Life Cycle</vt:lpstr>
      <vt:lpstr>Intent: Explicit vs Implicit</vt:lpstr>
      <vt:lpstr>Fragment &amp; Kirim Data</vt:lpstr>
      <vt:lpstr>View, Layout, Style &amp; Theme</vt:lpstr>
      <vt:lpstr>Interaksi Pengguna</vt:lpstr>
      <vt:lpstr>RecyclerView: List Efisien</vt:lpstr>
      <vt:lpstr>AlarmManager vs JobScheduler</vt:lpstr>
      <vt:lpstr>Notifikasi Android</vt:lpstr>
      <vt:lpstr>Opsi Penyimpanan Data</vt:lpstr>
      <vt:lpstr>SharedPreferences</vt:lpstr>
      <vt:lpstr>SQLite &amp; CRUD</vt:lpstr>
      <vt:lpstr>Firebase Realtime Database</vt:lpstr>
      <vt:lpstr>Ringkasan Akhir</vt:lpstr>
      <vt:lpstr>Daftar Pustaka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Ringkasan Pemrograman Mobile Android dengan Java</dc:title>
  <dc:subject>PptxGenJS Presentation</dc:subject>
  <dc:creator>Ringkasan Bab 1-6</dc:creator>
  <cp:lastModifiedBy>User</cp:lastModifiedBy>
  <cp:revision>1</cp:revision>
  <dcterms:created xsi:type="dcterms:W3CDTF">2026-10-22T03:36:47Z</dcterms:created>
  <dcterms:modified xsi:type="dcterms:W3CDTF">2026-10-22T03:41:15Z</dcterms:modified>
</cp:coreProperties>
</file>